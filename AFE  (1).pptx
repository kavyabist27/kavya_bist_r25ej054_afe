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Plus Jakarta Sans ExtraBold"/>
      <p:bold r:id="rId17"/>
      <p:boldItalic r:id="rId18"/>
    </p:embeddedFont>
    <p:embeddedFont>
      <p:font typeface="Inter SemiBold"/>
      <p:regular r:id="rId19"/>
      <p:bold r:id="rId20"/>
      <p:italic r:id="rId21"/>
      <p:boldItalic r:id="rId22"/>
    </p:embeddedFont>
    <p:embeddedFont>
      <p:font typeface="Inter"/>
      <p:regular r:id="rId23"/>
      <p:bold r:id="rId24"/>
      <p:italic r:id="rId25"/>
      <p:boldItalic r:id="rId26"/>
    </p:embeddedFont>
    <p:embeddedFont>
      <p:font typeface="Plus Jakarta Sans"/>
      <p:regular r:id="rId27"/>
      <p:bold r:id="rId28"/>
      <p:italic r:id="rId29"/>
      <p:boldItalic r:id="rId30"/>
    </p:embeddedFont>
    <p:embeddedFont>
      <p:font typeface="Plus Jakarta Sans SemiBold"/>
      <p:regular r:id="rId31"/>
      <p:bold r:id="rId32"/>
      <p:italic r:id="rId33"/>
      <p:boldItalic r:id="rId34"/>
    </p:embeddedFont>
    <p:embeddedFont>
      <p:font typeface="Plus Jakarta Sans Light"/>
      <p:regular r:id="rId35"/>
      <p:bold r:id="rId36"/>
      <p:italic r:id="rId37"/>
      <p:boldItalic r:id="rId38"/>
    </p:embeddedFont>
    <p:embeddedFont>
      <p:font typeface="Inter Medium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Medium-bold.fntdata"/><Relationship Id="rId20" Type="http://schemas.openxmlformats.org/officeDocument/2006/relationships/font" Target="fonts/InterSemiBold-bold.fntdata"/><Relationship Id="rId42" Type="http://schemas.openxmlformats.org/officeDocument/2006/relationships/font" Target="fonts/InterMedium-boldItalic.fntdata"/><Relationship Id="rId41" Type="http://schemas.openxmlformats.org/officeDocument/2006/relationships/font" Target="fonts/InterMedium-italic.fntdata"/><Relationship Id="rId22" Type="http://schemas.openxmlformats.org/officeDocument/2006/relationships/font" Target="fonts/InterSemiBold-boldItalic.fntdata"/><Relationship Id="rId21" Type="http://schemas.openxmlformats.org/officeDocument/2006/relationships/font" Target="fonts/InterSemiBold-italic.fntdata"/><Relationship Id="rId24" Type="http://schemas.openxmlformats.org/officeDocument/2006/relationships/font" Target="fonts/Inter-bold.fntdata"/><Relationship Id="rId23" Type="http://schemas.openxmlformats.org/officeDocument/2006/relationships/font" Target="fonts/Inter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boldItalic.fntdata"/><Relationship Id="rId25" Type="http://schemas.openxmlformats.org/officeDocument/2006/relationships/font" Target="fonts/Inter-italic.fntdata"/><Relationship Id="rId28" Type="http://schemas.openxmlformats.org/officeDocument/2006/relationships/font" Target="fonts/PlusJakartaSans-bold.fntdata"/><Relationship Id="rId27" Type="http://schemas.openxmlformats.org/officeDocument/2006/relationships/font" Target="fonts/PlusJakartaSan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lusJakarta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lusJakartaSansSemiBold-regular.fntdata"/><Relationship Id="rId30" Type="http://schemas.openxmlformats.org/officeDocument/2006/relationships/font" Target="fonts/PlusJakartaSans-boldItalic.fntdata"/><Relationship Id="rId11" Type="http://schemas.openxmlformats.org/officeDocument/2006/relationships/slide" Target="slides/slide6.xml"/><Relationship Id="rId33" Type="http://schemas.openxmlformats.org/officeDocument/2006/relationships/font" Target="fonts/PlusJakartaSansSemiBold-italic.fntdata"/><Relationship Id="rId10" Type="http://schemas.openxmlformats.org/officeDocument/2006/relationships/slide" Target="slides/slide5.xml"/><Relationship Id="rId32" Type="http://schemas.openxmlformats.org/officeDocument/2006/relationships/font" Target="fonts/PlusJakartaSansSemiBold-bold.fntdata"/><Relationship Id="rId13" Type="http://schemas.openxmlformats.org/officeDocument/2006/relationships/slide" Target="slides/slide8.xml"/><Relationship Id="rId35" Type="http://schemas.openxmlformats.org/officeDocument/2006/relationships/font" Target="fonts/PlusJakartaSansLight-regular.fntdata"/><Relationship Id="rId12" Type="http://schemas.openxmlformats.org/officeDocument/2006/relationships/slide" Target="slides/slide7.xml"/><Relationship Id="rId34" Type="http://schemas.openxmlformats.org/officeDocument/2006/relationships/font" Target="fonts/PlusJakartaSansSemiBold-boldItalic.fntdata"/><Relationship Id="rId15" Type="http://schemas.openxmlformats.org/officeDocument/2006/relationships/slide" Target="slides/slide10.xml"/><Relationship Id="rId37" Type="http://schemas.openxmlformats.org/officeDocument/2006/relationships/font" Target="fonts/PlusJakartaSansLight-italic.fntdata"/><Relationship Id="rId14" Type="http://schemas.openxmlformats.org/officeDocument/2006/relationships/slide" Target="slides/slide9.xml"/><Relationship Id="rId36" Type="http://schemas.openxmlformats.org/officeDocument/2006/relationships/font" Target="fonts/PlusJakartaSansLight-bold.fntdata"/><Relationship Id="rId17" Type="http://schemas.openxmlformats.org/officeDocument/2006/relationships/font" Target="fonts/PlusJakartaSansExtraBold-bold.fntdata"/><Relationship Id="rId39" Type="http://schemas.openxmlformats.org/officeDocument/2006/relationships/font" Target="fonts/InterMedium-regular.fntdata"/><Relationship Id="rId16" Type="http://schemas.openxmlformats.org/officeDocument/2006/relationships/slide" Target="slides/slide11.xml"/><Relationship Id="rId38" Type="http://schemas.openxmlformats.org/officeDocument/2006/relationships/font" Target="fonts/PlusJakartaSansLight-boldItalic.fntdata"/><Relationship Id="rId19" Type="http://schemas.openxmlformats.org/officeDocument/2006/relationships/font" Target="fonts/InterSemiBold-regular.fntdata"/><Relationship Id="rId18" Type="http://schemas.openxmlformats.org/officeDocument/2006/relationships/font" Target="fonts/PlusJakartaSansExtraBold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1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5.png"/><Relationship Id="rId10" Type="http://schemas.openxmlformats.org/officeDocument/2006/relationships/image" Target="../media/image7.png"/><Relationship Id="rId13" Type="http://schemas.openxmlformats.org/officeDocument/2006/relationships/image" Target="../media/image8.png"/><Relationship Id="rId1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42.png"/><Relationship Id="rId9" Type="http://schemas.openxmlformats.org/officeDocument/2006/relationships/image" Target="../media/image25.png"/><Relationship Id="rId14" Type="http://schemas.openxmlformats.org/officeDocument/2006/relationships/image" Target="../media/image6.png"/><Relationship Id="rId5" Type="http://schemas.openxmlformats.org/officeDocument/2006/relationships/image" Target="../media/image12.png"/><Relationship Id="rId6" Type="http://schemas.openxmlformats.org/officeDocument/2006/relationships/image" Target="../media/image3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5.png"/><Relationship Id="rId10" Type="http://schemas.openxmlformats.org/officeDocument/2006/relationships/image" Target="../media/image14.png"/><Relationship Id="rId13" Type="http://schemas.openxmlformats.org/officeDocument/2006/relationships/image" Target="../media/image16.png"/><Relationship Id="rId1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42.png"/><Relationship Id="rId9" Type="http://schemas.openxmlformats.org/officeDocument/2006/relationships/image" Target="../media/image18.png"/><Relationship Id="rId15" Type="http://schemas.openxmlformats.org/officeDocument/2006/relationships/image" Target="../media/image17.png"/><Relationship Id="rId14" Type="http://schemas.openxmlformats.org/officeDocument/2006/relationships/image" Target="../media/image19.png"/><Relationship Id="rId16" Type="http://schemas.openxmlformats.org/officeDocument/2006/relationships/image" Target="../media/image22.png"/><Relationship Id="rId5" Type="http://schemas.openxmlformats.org/officeDocument/2006/relationships/image" Target="../media/image27.png"/><Relationship Id="rId6" Type="http://schemas.openxmlformats.org/officeDocument/2006/relationships/image" Target="../media/image11.png"/><Relationship Id="rId7" Type="http://schemas.openxmlformats.org/officeDocument/2006/relationships/image" Target="../media/image13.png"/><Relationship Id="rId8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0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42.png"/><Relationship Id="rId9" Type="http://schemas.openxmlformats.org/officeDocument/2006/relationships/image" Target="../media/image33.png"/><Relationship Id="rId5" Type="http://schemas.openxmlformats.org/officeDocument/2006/relationships/image" Target="../media/image21.png"/><Relationship Id="rId6" Type="http://schemas.openxmlformats.org/officeDocument/2006/relationships/image" Target="../media/image30.png"/><Relationship Id="rId7" Type="http://schemas.openxmlformats.org/officeDocument/2006/relationships/image" Target="../media/image24.png"/><Relationship Id="rId8" Type="http://schemas.openxmlformats.org/officeDocument/2006/relationships/image" Target="../media/image52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32.png"/><Relationship Id="rId10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42.png"/><Relationship Id="rId9" Type="http://schemas.openxmlformats.org/officeDocument/2006/relationships/image" Target="../media/image40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26.png"/><Relationship Id="rId8" Type="http://schemas.openxmlformats.org/officeDocument/2006/relationships/image" Target="../media/image25.png"/></Relationships>
</file>

<file path=ppt/slides/_rels/slide6.xml.rels><?xml version="1.0" encoding="UTF-8" standalone="yes"?><Relationships xmlns="http://schemas.openxmlformats.org/package/2006/relationships"><Relationship Id="rId10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42.png"/><Relationship Id="rId9" Type="http://schemas.openxmlformats.org/officeDocument/2006/relationships/image" Target="../media/image59.png"/><Relationship Id="rId5" Type="http://schemas.openxmlformats.org/officeDocument/2006/relationships/image" Target="../media/image34.png"/><Relationship Id="rId6" Type="http://schemas.openxmlformats.org/officeDocument/2006/relationships/image" Target="../media/image38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44.png"/><Relationship Id="rId10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42.png"/><Relationship Id="rId9" Type="http://schemas.openxmlformats.org/officeDocument/2006/relationships/image" Target="../media/image40.png"/><Relationship Id="rId5" Type="http://schemas.openxmlformats.org/officeDocument/2006/relationships/image" Target="../media/image37.png"/><Relationship Id="rId6" Type="http://schemas.openxmlformats.org/officeDocument/2006/relationships/image" Target="../media/image55.png"/><Relationship Id="rId7" Type="http://schemas.openxmlformats.org/officeDocument/2006/relationships/image" Target="../media/image39.png"/><Relationship Id="rId8" Type="http://schemas.openxmlformats.org/officeDocument/2006/relationships/image" Target="../media/image2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71.png"/><Relationship Id="rId9" Type="http://schemas.openxmlformats.org/officeDocument/2006/relationships/image" Target="../media/image56.png"/><Relationship Id="rId5" Type="http://schemas.openxmlformats.org/officeDocument/2006/relationships/image" Target="../media/image48.png"/><Relationship Id="rId6" Type="http://schemas.openxmlformats.org/officeDocument/2006/relationships/image" Target="../media/image54.png"/><Relationship Id="rId7" Type="http://schemas.openxmlformats.org/officeDocument/2006/relationships/image" Target="../media/image47.png"/><Relationship Id="rId8" Type="http://schemas.openxmlformats.org/officeDocument/2006/relationships/image" Target="../media/image46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50.png"/><Relationship Id="rId10" Type="http://schemas.openxmlformats.org/officeDocument/2006/relationships/image" Target="../media/image6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42.png"/><Relationship Id="rId9" Type="http://schemas.openxmlformats.org/officeDocument/2006/relationships/image" Target="../media/image49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51.png"/><Relationship Id="rId8" Type="http://schemas.openxmlformats.org/officeDocument/2006/relationships/image" Target="../media/image58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73.png"/><Relationship Id="rId10" Type="http://schemas.openxmlformats.org/officeDocument/2006/relationships/image" Target="../media/image61.png"/><Relationship Id="rId13" Type="http://schemas.openxmlformats.org/officeDocument/2006/relationships/image" Target="../media/image66.png"/><Relationship Id="rId12" Type="http://schemas.openxmlformats.org/officeDocument/2006/relationships/image" Target="../media/image6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42.png"/><Relationship Id="rId9" Type="http://schemas.openxmlformats.org/officeDocument/2006/relationships/image" Target="../media/image69.png"/><Relationship Id="rId15" Type="http://schemas.openxmlformats.org/officeDocument/2006/relationships/image" Target="../media/image68.png"/><Relationship Id="rId14" Type="http://schemas.openxmlformats.org/officeDocument/2006/relationships/image" Target="../media/image65.png"/><Relationship Id="rId5" Type="http://schemas.openxmlformats.org/officeDocument/2006/relationships/image" Target="../media/image74.png"/><Relationship Id="rId6" Type="http://schemas.openxmlformats.org/officeDocument/2006/relationships/image" Target="../media/image62.png"/><Relationship Id="rId7" Type="http://schemas.openxmlformats.org/officeDocument/2006/relationships/image" Target="../media/image60.png"/><Relationship Id="rId8" Type="http://schemas.openxmlformats.org/officeDocument/2006/relationships/image" Target="../media/image5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7.png"/><Relationship Id="rId4" Type="http://schemas.openxmlformats.org/officeDocument/2006/relationships/image" Target="../media/image31.png"/><Relationship Id="rId5" Type="http://schemas.openxmlformats.org/officeDocument/2006/relationships/image" Target="../media/image72.png"/><Relationship Id="rId6" Type="http://schemas.openxmlformats.org/officeDocument/2006/relationships/image" Target="../media/image7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5934075"/>
            <a:ext cx="1064895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24013" y="3612802"/>
            <a:ext cx="6543675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2251769" y="1606897"/>
            <a:ext cx="7688312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COURSE PROJECT PORTFOLIO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059561" y="1959322"/>
            <a:ext cx="8072727" cy="7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AI Foundation for Engineers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2285851" y="2699892"/>
            <a:ext cx="7620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Practical Implementation of AI Workflows &amp; Modern Frontend Engineering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771525" y="6134100"/>
            <a:ext cx="11049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REVA UNIVERSITY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10831710" y="6134100"/>
            <a:ext cx="588764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CSE 2026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3214538" y="3850927"/>
            <a:ext cx="57626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PROJECT DEVELOPERS</a:t>
            </a:r>
            <a:endParaRPr/>
          </a:p>
        </p:txBody>
      </p:sp>
      <p:sp>
        <p:nvSpPr>
          <p:cNvPr id="93" name="Google Shape;93;p13"/>
          <p:cNvSpPr/>
          <p:nvPr/>
        </p:nvSpPr>
        <p:spPr>
          <a:xfrm>
            <a:off x="4357538" y="4127152"/>
            <a:ext cx="9525" cy="2857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6319688" y="4127152"/>
            <a:ext cx="9525" cy="2857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/>
          <p:nvPr/>
        </p:nvSpPr>
        <p:spPr>
          <a:xfrm>
            <a:off x="7662713" y="4127152"/>
            <a:ext cx="9525" cy="2857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214538" y="4108102"/>
            <a:ext cx="8572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Akash babji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3214538" y="4449512"/>
            <a:ext cx="857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R25EJ006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4652813" y="4108102"/>
            <a:ext cx="13811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Aryush Sheelavant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4652813" y="4466279"/>
            <a:ext cx="1381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R25EJ017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6614963" y="4108102"/>
            <a:ext cx="762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Kavya bist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6614963" y="4449512"/>
            <a:ext cx="762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R25EJ054</a:t>
            </a:r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7957988" y="4108102"/>
            <a:ext cx="10191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Anjali Nair PM</a:t>
            </a:r>
            <a:endParaRPr/>
          </a:p>
        </p:txBody>
      </p:sp>
      <p:sp>
        <p:nvSpPr>
          <p:cNvPr id="103" name="Google Shape;103;p13"/>
          <p:cNvSpPr txBox="1"/>
          <p:nvPr/>
        </p:nvSpPr>
        <p:spPr>
          <a:xfrm>
            <a:off x="7957988" y="4466279"/>
            <a:ext cx="1019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R25EJ008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8" name="Google Shape;10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5867400"/>
            <a:ext cx="10648950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2469951"/>
            <a:ext cx="3359050" cy="29046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16325" y="2469951"/>
            <a:ext cx="3359199" cy="29046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61275" y="2469951"/>
            <a:ext cx="3359050" cy="2904678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/>
          <p:cNvSpPr txBox="1"/>
          <p:nvPr/>
        </p:nvSpPr>
        <p:spPr>
          <a:xfrm>
            <a:off x="962025" y="581025"/>
            <a:ext cx="10981372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Course Portfolio Architecture </a:t>
            </a:r>
            <a:r>
              <a:rPr b="0" i="0" lang="en-US" sz="2850" u="none" cap="none" strike="noStrike">
                <a:solidFill>
                  <a:srgbClr val="FFFFFF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System Blueprint</a:t>
            </a:r>
            <a:endParaRPr/>
          </a:p>
        </p:txBody>
      </p:sp>
      <p:sp>
        <p:nvSpPr>
          <p:cNvPr id="114" name="Google Shape;114;p14"/>
          <p:cNvSpPr/>
          <p:nvPr/>
        </p:nvSpPr>
        <p:spPr>
          <a:xfrm>
            <a:off x="771525" y="581025"/>
            <a:ext cx="47625" cy="419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771525" y="1540371"/>
            <a:ext cx="9525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progressive four-phase computational framework structured to transition traditional logic mechanisms into cloud environments, emphasizing robust source control, deep model card teardowns, and optimized interfaces.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771525" y="6067425"/>
            <a:ext cx="2512814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PROJECT ARCHITECTURE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10879335" y="6100762"/>
            <a:ext cx="541139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02</a:t>
            </a:r>
            <a:endParaRPr/>
          </a:p>
        </p:txBody>
      </p:sp>
      <p:pic>
        <p:nvPicPr>
          <p:cNvPr descr="image.png" id="118" name="Google Shape;118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486025" y="6067425"/>
            <a:ext cx="798314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4"/>
          <p:cNvSpPr/>
          <p:nvPr/>
        </p:nvSpPr>
        <p:spPr>
          <a:xfrm>
            <a:off x="2432000" y="2479477"/>
            <a:ext cx="38100" cy="2885627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0" name="Google Shape;120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66800" y="2765226"/>
            <a:ext cx="5143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 txBox="1"/>
          <p:nvPr/>
        </p:nvSpPr>
        <p:spPr>
          <a:xfrm>
            <a:off x="1066800" y="3470076"/>
            <a:ext cx="29069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Technical Foundations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1066800" y="3870126"/>
            <a:ext cx="27685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Project 1: Git Staging &amp; Storing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1066800" y="4226272"/>
            <a:ext cx="2768500" cy="853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Establishing robust local-to-remote control systems, keys, and logical staging workflows for structured engineering pipelines.</a:t>
            </a:r>
            <a:endParaRPr/>
          </a:p>
        </p:txBody>
      </p:sp>
      <p:sp>
        <p:nvSpPr>
          <p:cNvPr id="124" name="Google Shape;124;p14"/>
          <p:cNvSpPr/>
          <p:nvPr/>
        </p:nvSpPr>
        <p:spPr>
          <a:xfrm>
            <a:off x="6076875" y="2479477"/>
            <a:ext cx="38100" cy="2885627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5" name="Google Shape;125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711600" y="2765226"/>
            <a:ext cx="5143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4"/>
          <p:cNvSpPr txBox="1"/>
          <p:nvPr/>
        </p:nvSpPr>
        <p:spPr>
          <a:xfrm>
            <a:off x="4711600" y="3470076"/>
            <a:ext cx="290708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AI Model Analysis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4711600" y="3870126"/>
            <a:ext cx="2768649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Project 2: Hugging Face Cards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4711600" y="4226272"/>
            <a:ext cx="2768649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Comprehensive vision-language parameters exploration, decoding analysis, and comparative benchmarking models.</a:t>
            </a:r>
            <a:endParaRPr/>
          </a:p>
        </p:txBody>
      </p:sp>
      <p:sp>
        <p:nvSpPr>
          <p:cNvPr id="129" name="Google Shape;129;p14"/>
          <p:cNvSpPr/>
          <p:nvPr/>
        </p:nvSpPr>
        <p:spPr>
          <a:xfrm>
            <a:off x="9721750" y="2479477"/>
            <a:ext cx="38100" cy="2885627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0" name="Google Shape;130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356550" y="2765226"/>
            <a:ext cx="5143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4"/>
          <p:cNvSpPr txBox="1"/>
          <p:nvPr/>
        </p:nvSpPr>
        <p:spPr>
          <a:xfrm>
            <a:off x="8356550" y="3470076"/>
            <a:ext cx="29069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Frontend Autonomy</a:t>
            </a:r>
            <a:endParaRPr/>
          </a:p>
        </p:txBody>
      </p:sp>
      <p:sp>
        <p:nvSpPr>
          <p:cNvPr id="132" name="Google Shape;132;p14"/>
          <p:cNvSpPr txBox="1"/>
          <p:nvPr/>
        </p:nvSpPr>
        <p:spPr>
          <a:xfrm>
            <a:off x="8356550" y="3870126"/>
            <a:ext cx="27685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Projects 3 &amp; 4: Interface Design</a:t>
            </a:r>
            <a:endParaRPr/>
          </a:p>
        </p:txBody>
      </p:sp>
      <p:sp>
        <p:nvSpPr>
          <p:cNvPr id="133" name="Google Shape;133;p14"/>
          <p:cNvSpPr txBox="1"/>
          <p:nvPr/>
        </p:nvSpPr>
        <p:spPr>
          <a:xfrm>
            <a:off x="8356550" y="4226272"/>
            <a:ext cx="276850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Building serverless layout grids and content aggregation layers using high-performance vanilla script without bundle overhead.</a:t>
            </a:r>
            <a:endParaRPr/>
          </a:p>
        </p:txBody>
      </p:sp>
      <p:pic>
        <p:nvPicPr>
          <p:cNvPr descr="image.png" id="134" name="Google Shape;134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223962" y="2908101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854475" y="2908101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470850" y="2908101"/>
            <a:ext cx="28575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1" name="Google Shape;14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5867400"/>
            <a:ext cx="10648950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2476053"/>
            <a:ext cx="2519362" cy="28449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81387" y="2476053"/>
            <a:ext cx="2519362" cy="28449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2476053"/>
            <a:ext cx="2519362" cy="28449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901112" y="2476053"/>
            <a:ext cx="2519362" cy="2844998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5"/>
          <p:cNvSpPr txBox="1"/>
          <p:nvPr/>
        </p:nvSpPr>
        <p:spPr>
          <a:xfrm>
            <a:off x="962025" y="581025"/>
            <a:ext cx="10981372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Capability Node Map </a:t>
            </a:r>
            <a:r>
              <a:rPr b="0" i="0" lang="en-US" sz="2850" u="none" cap="none" strike="noStrike">
                <a:solidFill>
                  <a:srgbClr val="FFFFFF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Core Specializations</a:t>
            </a:r>
            <a:endParaRPr/>
          </a:p>
        </p:txBody>
      </p:sp>
      <p:sp>
        <p:nvSpPr>
          <p:cNvPr id="148" name="Google Shape;148;p15"/>
          <p:cNvSpPr/>
          <p:nvPr/>
        </p:nvSpPr>
        <p:spPr>
          <a:xfrm>
            <a:off x="771525" y="581025"/>
            <a:ext cx="47625" cy="419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5"/>
          <p:cNvSpPr txBox="1"/>
          <p:nvPr/>
        </p:nvSpPr>
        <p:spPr>
          <a:xfrm>
            <a:off x="771525" y="1594098"/>
            <a:ext cx="106489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Our structured collaborative profiles span automated staging operations, model telemetry, fluid viewport styling, and programmatic DOM optimization.</a:t>
            </a:r>
            <a:endParaRPr/>
          </a:p>
        </p:txBody>
      </p:sp>
      <p:sp>
        <p:nvSpPr>
          <p:cNvPr id="150" name="Google Shape;150;p15"/>
          <p:cNvSpPr txBox="1"/>
          <p:nvPr/>
        </p:nvSpPr>
        <p:spPr>
          <a:xfrm>
            <a:off x="771525" y="6067425"/>
            <a:ext cx="1887884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TEAM ROLES</a:t>
            </a:r>
            <a:endParaRPr/>
          </a:p>
        </p:txBody>
      </p:sp>
      <p:sp>
        <p:nvSpPr>
          <p:cNvPr id="151" name="Google Shape;151;p15"/>
          <p:cNvSpPr txBox="1"/>
          <p:nvPr/>
        </p:nvSpPr>
        <p:spPr>
          <a:xfrm>
            <a:off x="10869810" y="6100762"/>
            <a:ext cx="550664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03</a:t>
            </a:r>
            <a:endParaRPr/>
          </a:p>
        </p:txBody>
      </p:sp>
      <p:pic>
        <p:nvPicPr>
          <p:cNvPr descr="image.png" id="152" name="Google Shape;152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704975" y="6067425"/>
            <a:ext cx="954434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5"/>
          <p:cNvSpPr/>
          <p:nvPr/>
        </p:nvSpPr>
        <p:spPr>
          <a:xfrm>
            <a:off x="2012156" y="2485576"/>
            <a:ext cx="38100" cy="2825953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4" name="Google Shape;154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66800" y="2771328"/>
            <a:ext cx="5143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5"/>
          <p:cNvSpPr txBox="1"/>
          <p:nvPr/>
        </p:nvSpPr>
        <p:spPr>
          <a:xfrm>
            <a:off x="1066800" y="3476178"/>
            <a:ext cx="2025253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Akash babji</a:t>
            </a:r>
            <a:endParaRPr/>
          </a:p>
        </p:txBody>
      </p:sp>
      <p:sp>
        <p:nvSpPr>
          <p:cNvPr id="156" name="Google Shape;156;p15"/>
          <p:cNvSpPr txBox="1"/>
          <p:nvPr/>
        </p:nvSpPr>
        <p:spPr>
          <a:xfrm>
            <a:off x="1066800" y="3771453"/>
            <a:ext cx="1928812" cy="18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USN: R25EJ006</a:t>
            </a:r>
            <a:endParaRPr/>
          </a:p>
        </p:txBody>
      </p:sp>
      <p:sp>
        <p:nvSpPr>
          <p:cNvPr id="157" name="Google Shape;157;p15"/>
          <p:cNvSpPr txBox="1"/>
          <p:nvPr/>
        </p:nvSpPr>
        <p:spPr>
          <a:xfrm>
            <a:off x="1066800" y="4097089"/>
            <a:ext cx="1928812" cy="928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Commands robust Git repositories, managing atomic commits, conflict-prevention mechanisms, and server endpoints setup.</a:t>
            </a:r>
            <a:endParaRPr/>
          </a:p>
        </p:txBody>
      </p:sp>
      <p:sp>
        <p:nvSpPr>
          <p:cNvPr id="158" name="Google Shape;158;p15"/>
          <p:cNvSpPr/>
          <p:nvPr/>
        </p:nvSpPr>
        <p:spPr>
          <a:xfrm>
            <a:off x="4722018" y="2485576"/>
            <a:ext cx="38100" cy="2825953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9" name="Google Shape;159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776662" y="2771328"/>
            <a:ext cx="5143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5"/>
          <p:cNvSpPr txBox="1"/>
          <p:nvPr/>
        </p:nvSpPr>
        <p:spPr>
          <a:xfrm>
            <a:off x="3776662" y="3476178"/>
            <a:ext cx="2025253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Aryush S.</a:t>
            </a:r>
            <a:endParaRPr/>
          </a:p>
        </p:txBody>
      </p:sp>
      <p:sp>
        <p:nvSpPr>
          <p:cNvPr id="161" name="Google Shape;161;p15"/>
          <p:cNvSpPr txBox="1"/>
          <p:nvPr/>
        </p:nvSpPr>
        <p:spPr>
          <a:xfrm>
            <a:off x="3776662" y="3771453"/>
            <a:ext cx="1928812" cy="18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USN: R25EJ017</a:t>
            </a:r>
            <a:endParaRPr/>
          </a:p>
        </p:txBody>
      </p:sp>
      <p:sp>
        <p:nvSpPr>
          <p:cNvPr id="162" name="Google Shape;162;p15"/>
          <p:cNvSpPr txBox="1"/>
          <p:nvPr/>
        </p:nvSpPr>
        <p:spPr>
          <a:xfrm>
            <a:off x="3776662" y="4097089"/>
            <a:ext cx="1928812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Specializes in model card analytics, hardware telemetry benchmarks, and Parallel Box Decoding architecture analysis.</a:t>
            </a:r>
            <a:endParaRPr/>
          </a:p>
        </p:txBody>
      </p:sp>
      <p:sp>
        <p:nvSpPr>
          <p:cNvPr id="163" name="Google Shape;163;p15"/>
          <p:cNvSpPr/>
          <p:nvPr/>
        </p:nvSpPr>
        <p:spPr>
          <a:xfrm>
            <a:off x="7431881" y="2485576"/>
            <a:ext cx="38100" cy="2825953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4" name="Google Shape;164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486525" y="2771328"/>
            <a:ext cx="5143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5"/>
          <p:cNvSpPr txBox="1"/>
          <p:nvPr/>
        </p:nvSpPr>
        <p:spPr>
          <a:xfrm>
            <a:off x="6486525" y="3476178"/>
            <a:ext cx="2025253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Kavya bist</a:t>
            </a:r>
            <a:endParaRPr/>
          </a:p>
        </p:txBody>
      </p:sp>
      <p:sp>
        <p:nvSpPr>
          <p:cNvPr id="166" name="Google Shape;166;p15"/>
          <p:cNvSpPr txBox="1"/>
          <p:nvPr/>
        </p:nvSpPr>
        <p:spPr>
          <a:xfrm>
            <a:off x="6486525" y="3771453"/>
            <a:ext cx="1928812" cy="18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USN: R25EJ054</a:t>
            </a:r>
            <a:endParaRPr/>
          </a:p>
        </p:txBody>
      </p:sp>
      <p:sp>
        <p:nvSpPr>
          <p:cNvPr id="167" name="Google Shape;167;p15"/>
          <p:cNvSpPr txBox="1"/>
          <p:nvPr/>
        </p:nvSpPr>
        <p:spPr>
          <a:xfrm>
            <a:off x="6486525" y="4097089"/>
            <a:ext cx="1928812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Owns the native layout styling parameters, visual system design, and multi-viewport fluid alignment strategies.</a:t>
            </a:r>
            <a:endParaRPr/>
          </a:p>
        </p:txBody>
      </p:sp>
      <p:sp>
        <p:nvSpPr>
          <p:cNvPr id="168" name="Google Shape;168;p15"/>
          <p:cNvSpPr/>
          <p:nvPr/>
        </p:nvSpPr>
        <p:spPr>
          <a:xfrm>
            <a:off x="10141743" y="2485576"/>
            <a:ext cx="38100" cy="2825953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9" name="Google Shape;169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196387" y="2771328"/>
            <a:ext cx="5143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5"/>
          <p:cNvSpPr txBox="1"/>
          <p:nvPr/>
        </p:nvSpPr>
        <p:spPr>
          <a:xfrm>
            <a:off x="9196387" y="3476178"/>
            <a:ext cx="2025253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Anjali Nair PM</a:t>
            </a:r>
            <a:endParaRPr/>
          </a:p>
        </p:txBody>
      </p:sp>
      <p:sp>
        <p:nvSpPr>
          <p:cNvPr id="171" name="Google Shape;171;p15"/>
          <p:cNvSpPr txBox="1"/>
          <p:nvPr/>
        </p:nvSpPr>
        <p:spPr>
          <a:xfrm>
            <a:off x="9196387" y="3771453"/>
            <a:ext cx="1928812" cy="18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USN: R25EJ008</a:t>
            </a:r>
            <a:endParaRPr/>
          </a:p>
        </p:txBody>
      </p:sp>
      <p:sp>
        <p:nvSpPr>
          <p:cNvPr id="172" name="Google Shape;172;p15"/>
          <p:cNvSpPr txBox="1"/>
          <p:nvPr/>
        </p:nvSpPr>
        <p:spPr>
          <a:xfrm>
            <a:off x="9196387" y="4097089"/>
            <a:ext cx="1928812" cy="928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Controls vanilla DOM engine mechanisms, client-side dynamic search routines, and low-latency API integration states.</a:t>
            </a:r>
            <a:endParaRPr/>
          </a:p>
        </p:txBody>
      </p:sp>
      <p:pic>
        <p:nvPicPr>
          <p:cNvPr descr="image.png" id="173" name="Google Shape;173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209675" y="2914203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919537" y="2914203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629400" y="2914203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9353550" y="2914203"/>
            <a:ext cx="200025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5867400"/>
            <a:ext cx="10648950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42670" y="1647825"/>
            <a:ext cx="4577804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6"/>
          <p:cNvSpPr txBox="1"/>
          <p:nvPr/>
        </p:nvSpPr>
        <p:spPr>
          <a:xfrm>
            <a:off x="962025" y="581025"/>
            <a:ext cx="10981372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Project 1: Version Control &amp; Git </a:t>
            </a:r>
            <a:r>
              <a:rPr b="0" i="0" lang="en-US" sz="2850" u="none" cap="none" strike="noStrike">
                <a:solidFill>
                  <a:srgbClr val="FFFFFF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Staging &amp; Delivery</a:t>
            </a:r>
            <a:endParaRPr/>
          </a:p>
        </p:txBody>
      </p:sp>
      <p:sp>
        <p:nvSpPr>
          <p:cNvPr id="185" name="Google Shape;185;p16"/>
          <p:cNvSpPr/>
          <p:nvPr/>
        </p:nvSpPr>
        <p:spPr>
          <a:xfrm>
            <a:off x="771525" y="581025"/>
            <a:ext cx="47625" cy="419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6"/>
          <p:cNvSpPr txBox="1"/>
          <p:nvPr/>
        </p:nvSpPr>
        <p:spPr>
          <a:xfrm>
            <a:off x="771525" y="6067425"/>
            <a:ext cx="2118419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VERSION CONTROL</a:t>
            </a:r>
            <a:endParaRPr/>
          </a:p>
        </p:txBody>
      </p:sp>
      <p:sp>
        <p:nvSpPr>
          <p:cNvPr id="187" name="Google Shape;187;p16"/>
          <p:cNvSpPr txBox="1"/>
          <p:nvPr/>
        </p:nvSpPr>
        <p:spPr>
          <a:xfrm>
            <a:off x="10869810" y="6100762"/>
            <a:ext cx="550664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04</a:t>
            </a:r>
            <a:endParaRPr/>
          </a:p>
        </p:txBody>
      </p:sp>
      <p:pic>
        <p:nvPicPr>
          <p:cNvPr descr="image.png" id="188" name="Google Shape;18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95500" y="6067425"/>
            <a:ext cx="794444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6"/>
          <p:cNvSpPr txBox="1"/>
          <p:nvPr/>
        </p:nvSpPr>
        <p:spPr>
          <a:xfrm>
            <a:off x="771525" y="1768971"/>
            <a:ext cx="587464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Establishing Robust Repository Staging Structures</a:t>
            </a:r>
            <a:endParaRPr/>
          </a:p>
        </p:txBody>
      </p:sp>
      <p:sp>
        <p:nvSpPr>
          <p:cNvPr id="190" name="Google Shape;190;p16"/>
          <p:cNvSpPr txBox="1"/>
          <p:nvPr/>
        </p:nvSpPr>
        <p:spPr>
          <a:xfrm>
            <a:off x="771525" y="2245221"/>
            <a:ext cx="5594895" cy="776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Standardized version control habits avoid code collision. We implemented secure authentication layers, local sandbox staging trees, and automated sync routines to stabilize production loops.</a:t>
            </a:r>
            <a:endParaRPr/>
          </a:p>
        </p:txBody>
      </p:sp>
      <p:pic>
        <p:nvPicPr>
          <p:cNvPr descr="image.png" id="191" name="Google Shape;191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52195" y="1657350"/>
            <a:ext cx="4558754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6"/>
          <p:cNvSpPr txBox="1"/>
          <p:nvPr/>
        </p:nvSpPr>
        <p:spPr>
          <a:xfrm>
            <a:off x="1114425" y="3260228"/>
            <a:ext cx="52519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Identity &amp; Keys:</a:t>
            </a: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Secure local SSH keypair setup preventing unauthorized branch commits.</a:t>
            </a:r>
            <a:endParaRPr/>
          </a:p>
        </p:txBody>
      </p:sp>
      <p:sp>
        <p:nvSpPr>
          <p:cNvPr id="193" name="Google Shape;193;p16"/>
          <p:cNvSpPr txBox="1"/>
          <p:nvPr/>
        </p:nvSpPr>
        <p:spPr>
          <a:xfrm>
            <a:off x="1114425" y="3888878"/>
            <a:ext cx="52519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Sync Protocols:</a:t>
            </a: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Continuous upstream synchronization to minimize branch conflicts.</a:t>
            </a:r>
            <a:endParaRPr/>
          </a:p>
        </p:txBody>
      </p:sp>
      <p:sp>
        <p:nvSpPr>
          <p:cNvPr id="194" name="Google Shape;194;p16"/>
          <p:cNvSpPr txBox="1"/>
          <p:nvPr/>
        </p:nvSpPr>
        <p:spPr>
          <a:xfrm>
            <a:off x="1114425" y="4517528"/>
            <a:ext cx="52519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Atomic Commits:</a:t>
            </a: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Commits scoped to clear milestones, avoiding massive code dumps.</a:t>
            </a:r>
            <a:endParaRPr/>
          </a:p>
        </p:txBody>
      </p:sp>
      <p:pic>
        <p:nvPicPr>
          <p:cNvPr descr="image.png" id="195" name="Google Shape;195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1525" y="3284041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71525" y="3912691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71525" y="4541341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5867400"/>
            <a:ext cx="10648950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2422177"/>
            <a:ext cx="5594895" cy="2952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42670" y="2422177"/>
            <a:ext cx="4577804" cy="2952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7"/>
          <p:cNvSpPr txBox="1"/>
          <p:nvPr/>
        </p:nvSpPr>
        <p:spPr>
          <a:xfrm>
            <a:off x="962025" y="581025"/>
            <a:ext cx="10981372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Project 2: Multimodal Model Card </a:t>
            </a:r>
            <a:r>
              <a:rPr b="0" i="0" lang="en-US" sz="2850" u="none" cap="none" strike="noStrike">
                <a:solidFill>
                  <a:srgbClr val="FFFFFF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Core Analytics</a:t>
            </a:r>
            <a:endParaRPr/>
          </a:p>
        </p:txBody>
      </p:sp>
      <p:sp>
        <p:nvSpPr>
          <p:cNvPr id="207" name="Google Shape;207;p17"/>
          <p:cNvSpPr/>
          <p:nvPr/>
        </p:nvSpPr>
        <p:spPr>
          <a:xfrm>
            <a:off x="771525" y="581025"/>
            <a:ext cx="47625" cy="419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7"/>
          <p:cNvSpPr txBox="1"/>
          <p:nvPr/>
        </p:nvSpPr>
        <p:spPr>
          <a:xfrm>
            <a:off x="771525" y="1540222"/>
            <a:ext cx="9048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Our analysis explored </a:t>
            </a:r>
            <a:r>
              <a:rPr b="1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LocateAnything-3B (NVLabs)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, checking model footprint, dataset training scales, and real-time execution bounds.</a:t>
            </a:r>
            <a:endParaRPr/>
          </a:p>
        </p:txBody>
      </p:sp>
      <p:sp>
        <p:nvSpPr>
          <p:cNvPr id="209" name="Google Shape;209;p17"/>
          <p:cNvSpPr txBox="1"/>
          <p:nvPr/>
        </p:nvSpPr>
        <p:spPr>
          <a:xfrm>
            <a:off x="771525" y="6067425"/>
            <a:ext cx="2219473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MODEL EVALUATION</a:t>
            </a:r>
            <a:endParaRPr/>
          </a:p>
        </p:txBody>
      </p:sp>
      <p:sp>
        <p:nvSpPr>
          <p:cNvPr id="210" name="Google Shape;210;p17"/>
          <p:cNvSpPr txBox="1"/>
          <p:nvPr/>
        </p:nvSpPr>
        <p:spPr>
          <a:xfrm>
            <a:off x="10879335" y="6100762"/>
            <a:ext cx="541139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05</a:t>
            </a:r>
            <a:endParaRPr/>
          </a:p>
        </p:txBody>
      </p:sp>
      <p:pic>
        <p:nvPicPr>
          <p:cNvPr descr="image.png" id="211" name="Google Shape;211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77504" y="6067425"/>
            <a:ext cx="813494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7"/>
          <p:cNvSpPr/>
          <p:nvPr/>
        </p:nvSpPr>
        <p:spPr>
          <a:xfrm>
            <a:off x="3549922" y="2431702"/>
            <a:ext cx="38100" cy="29337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3" name="Google Shape;213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66800" y="2717452"/>
            <a:ext cx="5143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7"/>
          <p:cNvSpPr txBox="1"/>
          <p:nvPr/>
        </p:nvSpPr>
        <p:spPr>
          <a:xfrm>
            <a:off x="1066800" y="3374677"/>
            <a:ext cx="525456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Scale Metrics &amp; Corpora</a:t>
            </a:r>
            <a:endParaRPr/>
          </a:p>
        </p:txBody>
      </p:sp>
      <p:sp>
        <p:nvSpPr>
          <p:cNvPr id="215" name="Google Shape;215;p17"/>
          <p:cNvSpPr txBox="1"/>
          <p:nvPr/>
        </p:nvSpPr>
        <p:spPr>
          <a:xfrm>
            <a:off x="1066800" y="3774727"/>
            <a:ext cx="500434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model was trained using 12 Million high-resolution unique visual resources, handling over 138 Million linguistic training alignments and 785 Million point-based annotations to guarantee robust object positioning capability.</a:t>
            </a:r>
            <a:endParaRPr/>
          </a:p>
        </p:txBody>
      </p:sp>
      <p:sp>
        <p:nvSpPr>
          <p:cNvPr id="216" name="Google Shape;216;p17"/>
          <p:cNvSpPr/>
          <p:nvPr/>
        </p:nvSpPr>
        <p:spPr>
          <a:xfrm>
            <a:off x="9112522" y="2431702"/>
            <a:ext cx="38100" cy="29337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7" name="Google Shape;217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137945" y="2717452"/>
            <a:ext cx="5143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7"/>
          <p:cNvSpPr txBox="1"/>
          <p:nvPr/>
        </p:nvSpPr>
        <p:spPr>
          <a:xfrm>
            <a:off x="7137945" y="3374677"/>
            <a:ext cx="418661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Task Competencies</a:t>
            </a:r>
            <a:endParaRPr/>
          </a:p>
        </p:txBody>
      </p:sp>
      <p:sp>
        <p:nvSpPr>
          <p:cNvPr id="219" name="Google Shape;219;p17"/>
          <p:cNvSpPr txBox="1"/>
          <p:nvPr/>
        </p:nvSpPr>
        <p:spPr>
          <a:xfrm>
            <a:off x="7137945" y="3774727"/>
            <a:ext cx="3987254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Outstanding operational response in bounding-box spatial detection, precision OCR document processing, web-element identification, and structured visual layout translation across varying edge client parameters.</a:t>
            </a:r>
            <a:endParaRPr/>
          </a:p>
        </p:txBody>
      </p:sp>
      <p:pic>
        <p:nvPicPr>
          <p:cNvPr descr="image.png" id="220" name="Google Shape;220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223962" y="2860327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280820" y="2860327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6" name="Google Shape;22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5867400"/>
            <a:ext cx="10648950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2319188"/>
            <a:ext cx="4259460" cy="2276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6800" y="2804963"/>
            <a:ext cx="366891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8"/>
          <p:cNvSpPr txBox="1"/>
          <p:nvPr/>
        </p:nvSpPr>
        <p:spPr>
          <a:xfrm>
            <a:off x="962025" y="581025"/>
            <a:ext cx="10981372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Deep Dive: Parallel Box Decoding </a:t>
            </a:r>
            <a:r>
              <a:rPr b="0" i="0" lang="en-US" sz="2850" u="none" cap="none" strike="noStrike">
                <a:solidFill>
                  <a:srgbClr val="FFFFFF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Performance Jumps</a:t>
            </a:r>
            <a:endParaRPr/>
          </a:p>
        </p:txBody>
      </p:sp>
      <p:sp>
        <p:nvSpPr>
          <p:cNvPr id="231" name="Google Shape;231;p18"/>
          <p:cNvSpPr/>
          <p:nvPr/>
        </p:nvSpPr>
        <p:spPr>
          <a:xfrm>
            <a:off x="771525" y="581025"/>
            <a:ext cx="47625" cy="419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8"/>
          <p:cNvSpPr txBox="1"/>
          <p:nvPr/>
        </p:nvSpPr>
        <p:spPr>
          <a:xfrm>
            <a:off x="771525" y="6067425"/>
            <a:ext cx="2162323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LATENCY ANALYSIS</a:t>
            </a:r>
            <a:endParaRPr/>
          </a:p>
        </p:txBody>
      </p:sp>
      <p:sp>
        <p:nvSpPr>
          <p:cNvPr id="233" name="Google Shape;233;p18"/>
          <p:cNvSpPr txBox="1"/>
          <p:nvPr/>
        </p:nvSpPr>
        <p:spPr>
          <a:xfrm>
            <a:off x="10869810" y="6100762"/>
            <a:ext cx="550664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06</a:t>
            </a:r>
            <a:endParaRPr/>
          </a:p>
        </p:txBody>
      </p:sp>
      <p:pic>
        <p:nvPicPr>
          <p:cNvPr descr="image.png" id="234" name="Google Shape;234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39404" y="6067425"/>
            <a:ext cx="794444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8"/>
          <p:cNvSpPr txBox="1"/>
          <p:nvPr/>
        </p:nvSpPr>
        <p:spPr>
          <a:xfrm>
            <a:off x="1066800" y="3947963"/>
            <a:ext cx="366891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INFERENCE TELEMETRY INCREASE</a:t>
            </a:r>
            <a:endParaRPr/>
          </a:p>
        </p:txBody>
      </p:sp>
      <p:sp>
        <p:nvSpPr>
          <p:cNvPr id="236" name="Google Shape;236;p18"/>
          <p:cNvSpPr txBox="1"/>
          <p:nvPr/>
        </p:nvSpPr>
        <p:spPr>
          <a:xfrm>
            <a:off x="5507235" y="2084040"/>
            <a:ext cx="620890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818CF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Resolving Autoregressive Grid Bottlenecks</a:t>
            </a:r>
            <a:endParaRPr/>
          </a:p>
        </p:txBody>
      </p:sp>
      <p:sp>
        <p:nvSpPr>
          <p:cNvPr id="237" name="Google Shape;237;p18"/>
          <p:cNvSpPr txBox="1"/>
          <p:nvPr/>
        </p:nvSpPr>
        <p:spPr>
          <a:xfrm>
            <a:off x="5507235" y="2560290"/>
            <a:ext cx="5913239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Standard architectures process bounding coordinates sequentially ( ), generating significant latency overhead. Parallel Box Decoding (PBD) addresses this directly.</a:t>
            </a:r>
            <a:endParaRPr/>
          </a:p>
        </p:txBody>
      </p:sp>
      <p:pic>
        <p:nvPicPr>
          <p:cNvPr descr="image.png" id="238" name="Google Shape;238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507235" y="2901255"/>
            <a:ext cx="1100137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8"/>
          <p:cNvSpPr txBox="1"/>
          <p:nvPr/>
        </p:nvSpPr>
        <p:spPr>
          <a:xfrm>
            <a:off x="5850135" y="3573660"/>
            <a:ext cx="55703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Single-Step Output:</a:t>
            </a: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Solves coordinate generation simultaneously in a single forward calculation pass.</a:t>
            </a:r>
            <a:endParaRPr/>
          </a:p>
        </p:txBody>
      </p:sp>
      <p:sp>
        <p:nvSpPr>
          <p:cNvPr id="240" name="Google Shape;240;p18"/>
          <p:cNvSpPr txBox="1"/>
          <p:nvPr/>
        </p:nvSpPr>
        <p:spPr>
          <a:xfrm>
            <a:off x="5850135" y="4202310"/>
            <a:ext cx="55703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VRAM Optimization:</a:t>
            </a: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Reduces memory-cache footprint, allowing seamless edge-device translation.</a:t>
            </a:r>
            <a:endParaRPr/>
          </a:p>
        </p:txBody>
      </p:sp>
      <p:pic>
        <p:nvPicPr>
          <p:cNvPr descr="image.png" id="241" name="Google Shape;241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507235" y="3597473"/>
            <a:ext cx="1333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507235" y="4226123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7" name="Google Shape;24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5867400"/>
            <a:ext cx="10648950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2422177"/>
            <a:ext cx="5594895" cy="2952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42670" y="2422177"/>
            <a:ext cx="4577804" cy="295275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9"/>
          <p:cNvSpPr txBox="1"/>
          <p:nvPr/>
        </p:nvSpPr>
        <p:spPr>
          <a:xfrm>
            <a:off x="962025" y="581025"/>
            <a:ext cx="10981372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Project 3: E-Profile Layout Architecture </a:t>
            </a:r>
            <a:r>
              <a:rPr b="0" i="0" lang="en-US" sz="2850" u="none" cap="none" strike="noStrike">
                <a:solidFill>
                  <a:srgbClr val="FFFFFF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Sleek Grid Systems</a:t>
            </a:r>
            <a:endParaRPr/>
          </a:p>
        </p:txBody>
      </p:sp>
      <p:sp>
        <p:nvSpPr>
          <p:cNvPr id="252" name="Google Shape;252;p19"/>
          <p:cNvSpPr/>
          <p:nvPr/>
        </p:nvSpPr>
        <p:spPr>
          <a:xfrm>
            <a:off x="771525" y="581025"/>
            <a:ext cx="47625" cy="419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9"/>
          <p:cNvSpPr txBox="1"/>
          <p:nvPr/>
        </p:nvSpPr>
        <p:spPr>
          <a:xfrm>
            <a:off x="771525" y="1540222"/>
            <a:ext cx="9048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We designed a serverless developer portfolio layout utilizing pure, lightweight components to maximize painting performance and ensure immediate viewport adaptability.</a:t>
            </a:r>
            <a:endParaRPr/>
          </a:p>
        </p:txBody>
      </p:sp>
      <p:sp>
        <p:nvSpPr>
          <p:cNvPr id="254" name="Google Shape;254;p19"/>
          <p:cNvSpPr txBox="1"/>
          <p:nvPr/>
        </p:nvSpPr>
        <p:spPr>
          <a:xfrm>
            <a:off x="771525" y="6067425"/>
            <a:ext cx="2364283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PORTFOLIO PLATFORM</a:t>
            </a:r>
            <a:endParaRPr/>
          </a:p>
        </p:txBody>
      </p:sp>
      <p:sp>
        <p:nvSpPr>
          <p:cNvPr id="255" name="Google Shape;255;p19"/>
          <p:cNvSpPr txBox="1"/>
          <p:nvPr/>
        </p:nvSpPr>
        <p:spPr>
          <a:xfrm>
            <a:off x="10879335" y="6100762"/>
            <a:ext cx="541139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07</a:t>
            </a:r>
            <a:endParaRPr/>
          </a:p>
        </p:txBody>
      </p:sp>
      <p:pic>
        <p:nvPicPr>
          <p:cNvPr descr="image.png" id="256" name="Google Shape;256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322314" y="6067425"/>
            <a:ext cx="813494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9"/>
          <p:cNvSpPr/>
          <p:nvPr/>
        </p:nvSpPr>
        <p:spPr>
          <a:xfrm>
            <a:off x="3549922" y="2431702"/>
            <a:ext cx="38100" cy="29337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8" name="Google Shape;258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66800" y="2717452"/>
            <a:ext cx="5143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9"/>
          <p:cNvSpPr txBox="1"/>
          <p:nvPr/>
        </p:nvSpPr>
        <p:spPr>
          <a:xfrm>
            <a:off x="1066800" y="3374677"/>
            <a:ext cx="525456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Zero-Framework Integration</a:t>
            </a:r>
            <a:endParaRPr/>
          </a:p>
        </p:txBody>
      </p:sp>
      <p:sp>
        <p:nvSpPr>
          <p:cNvPr id="260" name="Google Shape;260;p19"/>
          <p:cNvSpPr txBox="1"/>
          <p:nvPr/>
        </p:nvSpPr>
        <p:spPr>
          <a:xfrm>
            <a:off x="1066800" y="3774727"/>
            <a:ext cx="500434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Engineered entirely on vanilla HTML5 elements and local CSS3 style variables. Eliminating dynamic JavaScript rendering overheads boosted load speeds and limited package payload bloat.</a:t>
            </a:r>
            <a:endParaRPr/>
          </a:p>
        </p:txBody>
      </p:sp>
      <p:sp>
        <p:nvSpPr>
          <p:cNvPr id="261" name="Google Shape;261;p19"/>
          <p:cNvSpPr/>
          <p:nvPr/>
        </p:nvSpPr>
        <p:spPr>
          <a:xfrm>
            <a:off x="9112522" y="2431702"/>
            <a:ext cx="38100" cy="29337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2" name="Google Shape;262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137945" y="2717452"/>
            <a:ext cx="5143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19"/>
          <p:cNvSpPr txBox="1"/>
          <p:nvPr/>
        </p:nvSpPr>
        <p:spPr>
          <a:xfrm>
            <a:off x="7137945" y="3374677"/>
            <a:ext cx="418661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Visual Zone Segregation</a:t>
            </a:r>
            <a:endParaRPr/>
          </a:p>
        </p:txBody>
      </p:sp>
      <p:sp>
        <p:nvSpPr>
          <p:cNvPr id="264" name="Google Shape;264;p19"/>
          <p:cNvSpPr txBox="1"/>
          <p:nvPr/>
        </p:nvSpPr>
        <p:spPr>
          <a:xfrm>
            <a:off x="7137945" y="3774727"/>
            <a:ext cx="3987254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Structured structural viewport regions: glassmorphic navigation headers with backdrop-blur, adaptive SVG profile grids, and interactive vector indicators rendering developer skill parameters instantly.</a:t>
            </a:r>
            <a:endParaRPr/>
          </a:p>
        </p:txBody>
      </p:sp>
      <p:pic>
        <p:nvPicPr>
          <p:cNvPr descr="image.png" id="265" name="Google Shape;265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209675" y="286032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266533" y="2860327"/>
            <a:ext cx="257175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1" name="Google Shape;27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2" name="Google Shape;27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5867400"/>
            <a:ext cx="5038725" cy="409575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0"/>
          <p:cNvSpPr txBox="1"/>
          <p:nvPr/>
        </p:nvSpPr>
        <p:spPr>
          <a:xfrm>
            <a:off x="962025" y="581025"/>
            <a:ext cx="5090636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Project 4: News Platform </a:t>
            </a:r>
            <a:r>
              <a:rPr b="0" i="0" lang="en-US" sz="2850" u="none" cap="none" strike="noStrike">
                <a:solidFill>
                  <a:srgbClr val="FFFFFF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Responsive Grid Rendering</a:t>
            </a:r>
            <a:endParaRPr/>
          </a:p>
        </p:txBody>
      </p:sp>
      <p:sp>
        <p:nvSpPr>
          <p:cNvPr id="274" name="Google Shape;274;p20"/>
          <p:cNvSpPr/>
          <p:nvPr/>
        </p:nvSpPr>
        <p:spPr>
          <a:xfrm>
            <a:off x="771525" y="581025"/>
            <a:ext cx="47625" cy="419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5" name="Google Shape;27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9525"/>
            <a:ext cx="58007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0"/>
          <p:cNvSpPr txBox="1"/>
          <p:nvPr/>
        </p:nvSpPr>
        <p:spPr>
          <a:xfrm>
            <a:off x="771525" y="6067425"/>
            <a:ext cx="2600473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INTERFACE DEPLOYMENTS</a:t>
            </a:r>
            <a:endParaRPr/>
          </a:p>
        </p:txBody>
      </p:sp>
      <p:sp>
        <p:nvSpPr>
          <p:cNvPr id="277" name="Google Shape;277;p20"/>
          <p:cNvSpPr txBox="1"/>
          <p:nvPr/>
        </p:nvSpPr>
        <p:spPr>
          <a:xfrm>
            <a:off x="771525" y="1946969"/>
            <a:ext cx="5290661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22D3EE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Dynamic Interface Reshaping</a:t>
            </a:r>
            <a:endParaRPr/>
          </a:p>
        </p:txBody>
      </p:sp>
      <p:sp>
        <p:nvSpPr>
          <p:cNvPr id="278" name="Google Shape;278;p20"/>
          <p:cNvSpPr txBox="1"/>
          <p:nvPr/>
        </p:nvSpPr>
        <p:spPr>
          <a:xfrm>
            <a:off x="771525" y="2404169"/>
            <a:ext cx="503872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We engineered a high-performance news aggregation board that dynamically restructures elements across device screens.</a:t>
            </a:r>
            <a:endParaRPr/>
          </a:p>
        </p:txBody>
      </p:sp>
      <p:pic>
        <p:nvPicPr>
          <p:cNvPr descr="image.png" id="279" name="Google Shape;27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58504" y="6067425"/>
            <a:ext cx="813494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0"/>
          <p:cNvSpPr txBox="1"/>
          <p:nvPr/>
        </p:nvSpPr>
        <p:spPr>
          <a:xfrm>
            <a:off x="1114425" y="3082230"/>
            <a:ext cx="46958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Breaking Tickers:</a:t>
            </a: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Fluid banner components running CSS keyframes smoothly.</a:t>
            </a:r>
            <a:endParaRPr/>
          </a:p>
        </p:txBody>
      </p:sp>
      <p:sp>
        <p:nvSpPr>
          <p:cNvPr id="281" name="Google Shape;281;p20"/>
          <p:cNvSpPr txBox="1"/>
          <p:nvPr/>
        </p:nvSpPr>
        <p:spPr>
          <a:xfrm>
            <a:off x="1114425" y="3710880"/>
            <a:ext cx="46958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Masonry Grids:</a:t>
            </a: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Dynamic columns prioritizing high-traffic articles.</a:t>
            </a:r>
            <a:endParaRPr/>
          </a:p>
        </p:txBody>
      </p:sp>
      <p:sp>
        <p:nvSpPr>
          <p:cNvPr id="282" name="Google Shape;282;p20"/>
          <p:cNvSpPr txBox="1"/>
          <p:nvPr/>
        </p:nvSpPr>
        <p:spPr>
          <a:xfrm>
            <a:off x="1114425" y="4339530"/>
            <a:ext cx="46958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Responsive Sidebars:</a:t>
            </a: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Adaptive drawers collapsing dynamically based on active device parameters.</a:t>
            </a:r>
            <a:endParaRPr/>
          </a:p>
        </p:txBody>
      </p:sp>
      <p:pic>
        <p:nvPicPr>
          <p:cNvPr descr="image.png" id="283" name="Google Shape;283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3106042"/>
            <a:ext cx="1905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1525" y="373469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5" name="Google Shape;285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71525" y="4363342"/>
            <a:ext cx="1333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0" name="Google Shape;29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5867400"/>
            <a:ext cx="10648950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2" name="Google Shape;29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2422177"/>
            <a:ext cx="5594895" cy="2952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42670" y="2422177"/>
            <a:ext cx="4577804" cy="295275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1"/>
          <p:cNvSpPr txBox="1"/>
          <p:nvPr/>
        </p:nvSpPr>
        <p:spPr>
          <a:xfrm>
            <a:off x="962025" y="581025"/>
            <a:ext cx="10981372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Project 4: Pure JS Aggregator Engine </a:t>
            </a:r>
            <a:r>
              <a:rPr b="0" i="0" lang="en-US" sz="2850" u="none" cap="none" strike="noStrike">
                <a:solidFill>
                  <a:srgbClr val="FFFFFF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High Performance DOM Manipulation</a:t>
            </a:r>
            <a:endParaRPr/>
          </a:p>
        </p:txBody>
      </p:sp>
      <p:sp>
        <p:nvSpPr>
          <p:cNvPr id="295" name="Google Shape;295;p21"/>
          <p:cNvSpPr/>
          <p:nvPr/>
        </p:nvSpPr>
        <p:spPr>
          <a:xfrm>
            <a:off x="771525" y="581025"/>
            <a:ext cx="47625" cy="419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1"/>
          <p:cNvSpPr txBox="1"/>
          <p:nvPr/>
        </p:nvSpPr>
        <p:spPr>
          <a:xfrm>
            <a:off x="771525" y="1540222"/>
            <a:ext cx="9048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By removing third-party library virtual DOM layers, our aggregator directly targets and mutates native nodes to ensure lightning-fast UI updates.</a:t>
            </a:r>
            <a:endParaRPr/>
          </a:p>
        </p:txBody>
      </p:sp>
      <p:sp>
        <p:nvSpPr>
          <p:cNvPr id="297" name="Google Shape;297;p21"/>
          <p:cNvSpPr txBox="1"/>
          <p:nvPr/>
        </p:nvSpPr>
        <p:spPr>
          <a:xfrm>
            <a:off x="771525" y="6067425"/>
            <a:ext cx="2196554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VANILLA SCRIPTING</a:t>
            </a:r>
            <a:endParaRPr/>
          </a:p>
        </p:txBody>
      </p:sp>
      <p:sp>
        <p:nvSpPr>
          <p:cNvPr id="298" name="Google Shape;298;p21"/>
          <p:cNvSpPr txBox="1"/>
          <p:nvPr/>
        </p:nvSpPr>
        <p:spPr>
          <a:xfrm>
            <a:off x="10869810" y="6100762"/>
            <a:ext cx="550664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09</a:t>
            </a:r>
            <a:endParaRPr/>
          </a:p>
        </p:txBody>
      </p:sp>
      <p:pic>
        <p:nvPicPr>
          <p:cNvPr descr="image.png" id="299" name="Google Shape;299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54584" y="6067425"/>
            <a:ext cx="813494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1"/>
          <p:cNvSpPr/>
          <p:nvPr/>
        </p:nvSpPr>
        <p:spPr>
          <a:xfrm>
            <a:off x="3549922" y="2431702"/>
            <a:ext cx="38100" cy="29337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01" name="Google Shape;301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66800" y="2717452"/>
            <a:ext cx="5143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1"/>
          <p:cNvSpPr txBox="1"/>
          <p:nvPr/>
        </p:nvSpPr>
        <p:spPr>
          <a:xfrm>
            <a:off x="1066800" y="3374677"/>
            <a:ext cx="525456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Direct DOM Traversal</a:t>
            </a:r>
            <a:endParaRPr/>
          </a:p>
        </p:txBody>
      </p:sp>
      <p:sp>
        <p:nvSpPr>
          <p:cNvPr id="303" name="Google Shape;303;p21"/>
          <p:cNvSpPr txBox="1"/>
          <p:nvPr/>
        </p:nvSpPr>
        <p:spPr>
          <a:xfrm>
            <a:off x="1066800" y="3774727"/>
            <a:ext cx="500434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Core application logic processes local JSON dataset arrays directly, parsing raw string profiles into semantic HTML components and injection nodes in a single paint phase.</a:t>
            </a:r>
            <a:endParaRPr/>
          </a:p>
        </p:txBody>
      </p:sp>
      <p:sp>
        <p:nvSpPr>
          <p:cNvPr id="304" name="Google Shape;304;p21"/>
          <p:cNvSpPr/>
          <p:nvPr/>
        </p:nvSpPr>
        <p:spPr>
          <a:xfrm>
            <a:off x="9112522" y="2431702"/>
            <a:ext cx="38100" cy="29337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05" name="Google Shape;305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137945" y="2717452"/>
            <a:ext cx="5143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1"/>
          <p:cNvSpPr txBox="1"/>
          <p:nvPr/>
        </p:nvSpPr>
        <p:spPr>
          <a:xfrm>
            <a:off x="7137945" y="3374677"/>
            <a:ext cx="418661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Query Filtering Routines</a:t>
            </a:r>
            <a:endParaRPr/>
          </a:p>
        </p:txBody>
      </p:sp>
      <p:sp>
        <p:nvSpPr>
          <p:cNvPr id="307" name="Google Shape;307;p21"/>
          <p:cNvSpPr txBox="1"/>
          <p:nvPr/>
        </p:nvSpPr>
        <p:spPr>
          <a:xfrm>
            <a:off x="7137945" y="3774727"/>
            <a:ext cx="3987254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Custom client search engines map user keystrokes to dataset properties instantly, using string normalization and target class toggles with sub-millisecond lag.</a:t>
            </a:r>
            <a:endParaRPr/>
          </a:p>
        </p:txBody>
      </p:sp>
      <p:pic>
        <p:nvPicPr>
          <p:cNvPr descr="image.png" id="308" name="Google Shape;308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252537" y="2860327"/>
            <a:ext cx="1428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9" name="Google Shape;309;p2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280820" y="2860327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4" name="Google Shape;31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5" name="Google Shape;31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5867400"/>
            <a:ext cx="10648950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6" name="Google Shape;31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2593627"/>
            <a:ext cx="3359050" cy="2609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7" name="Google Shape;317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16325" y="2593627"/>
            <a:ext cx="3359199" cy="2609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8" name="Google Shape;318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61275" y="2593627"/>
            <a:ext cx="3359050" cy="26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2"/>
          <p:cNvSpPr txBox="1"/>
          <p:nvPr/>
        </p:nvSpPr>
        <p:spPr>
          <a:xfrm>
            <a:off x="962025" y="581025"/>
            <a:ext cx="10981372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7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Unified Architecture Ecosystem </a:t>
            </a:r>
            <a:r>
              <a:rPr b="0" i="0" lang="en-US" sz="2850" u="none" cap="none" strike="noStrike">
                <a:solidFill>
                  <a:srgbClr val="FFFFFF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Integrated Tools</a:t>
            </a:r>
            <a:endParaRPr/>
          </a:p>
        </p:txBody>
      </p:sp>
      <p:sp>
        <p:nvSpPr>
          <p:cNvPr id="320" name="Google Shape;320;p22"/>
          <p:cNvSpPr/>
          <p:nvPr/>
        </p:nvSpPr>
        <p:spPr>
          <a:xfrm>
            <a:off x="771525" y="581025"/>
            <a:ext cx="47625" cy="419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2"/>
          <p:cNvSpPr txBox="1"/>
          <p:nvPr/>
        </p:nvSpPr>
        <p:spPr>
          <a:xfrm>
            <a:off x="771525" y="1711672"/>
            <a:ext cx="106489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An integrated developmental pipeline starting from low-level systems logic, progressing to standard staging pipelines, and final client hosting.</a:t>
            </a:r>
            <a:endParaRPr/>
          </a:p>
        </p:txBody>
      </p:sp>
      <p:sp>
        <p:nvSpPr>
          <p:cNvPr id="322" name="Google Shape;322;p22"/>
          <p:cNvSpPr txBox="1"/>
          <p:nvPr/>
        </p:nvSpPr>
        <p:spPr>
          <a:xfrm>
            <a:off x="771525" y="6067425"/>
            <a:ext cx="2006054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SYSTEM STACK</a:t>
            </a:r>
            <a:endParaRPr/>
          </a:p>
        </p:txBody>
      </p:sp>
      <p:sp>
        <p:nvSpPr>
          <p:cNvPr id="323" name="Google Shape;323;p22"/>
          <p:cNvSpPr txBox="1"/>
          <p:nvPr/>
        </p:nvSpPr>
        <p:spPr>
          <a:xfrm>
            <a:off x="10898385" y="6100762"/>
            <a:ext cx="522089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SLIDE 10</a:t>
            </a:r>
            <a:endParaRPr/>
          </a:p>
        </p:txBody>
      </p:sp>
      <p:pic>
        <p:nvPicPr>
          <p:cNvPr descr="image.png" id="324" name="Google Shape;324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878359" y="6067425"/>
            <a:ext cx="899219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2"/>
          <p:cNvSpPr/>
          <p:nvPr/>
        </p:nvSpPr>
        <p:spPr>
          <a:xfrm>
            <a:off x="2432000" y="2603152"/>
            <a:ext cx="38100" cy="25908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26" name="Google Shape;326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66800" y="2888902"/>
            <a:ext cx="5143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2"/>
          <p:cNvSpPr txBox="1"/>
          <p:nvPr/>
        </p:nvSpPr>
        <p:spPr>
          <a:xfrm>
            <a:off x="1066800" y="3593752"/>
            <a:ext cx="29069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Deployments &amp; Hosting</a:t>
            </a:r>
            <a:endParaRPr/>
          </a:p>
        </p:txBody>
      </p:sp>
      <p:sp>
        <p:nvSpPr>
          <p:cNvPr id="328" name="Google Shape;328;p22"/>
          <p:cNvSpPr/>
          <p:nvPr/>
        </p:nvSpPr>
        <p:spPr>
          <a:xfrm>
            <a:off x="6076875" y="2603152"/>
            <a:ext cx="38100" cy="259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29" name="Google Shape;329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711600" y="2888902"/>
            <a:ext cx="5143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2"/>
          <p:cNvSpPr txBox="1"/>
          <p:nvPr/>
        </p:nvSpPr>
        <p:spPr>
          <a:xfrm>
            <a:off x="4711600" y="3593752"/>
            <a:ext cx="290708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Tools &amp; Compilers</a:t>
            </a:r>
            <a:endParaRPr/>
          </a:p>
        </p:txBody>
      </p:sp>
      <p:sp>
        <p:nvSpPr>
          <p:cNvPr id="331" name="Google Shape;331;p22"/>
          <p:cNvSpPr/>
          <p:nvPr/>
        </p:nvSpPr>
        <p:spPr>
          <a:xfrm>
            <a:off x="9721750" y="2603152"/>
            <a:ext cx="38100" cy="25908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32" name="Google Shape;332;p2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356550" y="2888902"/>
            <a:ext cx="5143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2"/>
          <p:cNvSpPr txBox="1"/>
          <p:nvPr/>
        </p:nvSpPr>
        <p:spPr>
          <a:xfrm>
            <a:off x="8356550" y="3593752"/>
            <a:ext cx="29069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Core Languages</a:t>
            </a:r>
            <a:endParaRPr/>
          </a:p>
        </p:txBody>
      </p:sp>
      <p:pic>
        <p:nvPicPr>
          <p:cNvPr descr="image.png" id="334" name="Google Shape;334;p2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209675" y="303177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2"/>
          <p:cNvSpPr txBox="1"/>
          <p:nvPr/>
        </p:nvSpPr>
        <p:spPr>
          <a:xfrm>
            <a:off x="1409700" y="3993802"/>
            <a:ext cx="2425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GitHub Enterprise Staging</a:t>
            </a:r>
            <a:endParaRPr/>
          </a:p>
        </p:txBody>
      </p:sp>
      <p:sp>
        <p:nvSpPr>
          <p:cNvPr id="336" name="Google Shape;336;p22"/>
          <p:cNvSpPr txBox="1"/>
          <p:nvPr/>
        </p:nvSpPr>
        <p:spPr>
          <a:xfrm>
            <a:off x="1409700" y="4298602"/>
            <a:ext cx="2425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CDN Content Delivery</a:t>
            </a:r>
            <a:endParaRPr/>
          </a:p>
        </p:txBody>
      </p:sp>
      <p:sp>
        <p:nvSpPr>
          <p:cNvPr id="337" name="Google Shape;337;p22"/>
          <p:cNvSpPr txBox="1"/>
          <p:nvPr/>
        </p:nvSpPr>
        <p:spPr>
          <a:xfrm>
            <a:off x="1409700" y="4603402"/>
            <a:ext cx="2425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Serverless Mock API Files</a:t>
            </a:r>
            <a:endParaRPr/>
          </a:p>
        </p:txBody>
      </p:sp>
      <p:pic>
        <p:nvPicPr>
          <p:cNvPr descr="image.png" id="338" name="Google Shape;338;p2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854475" y="303177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2"/>
          <p:cNvSpPr txBox="1"/>
          <p:nvPr/>
        </p:nvSpPr>
        <p:spPr>
          <a:xfrm>
            <a:off x="5054500" y="3993802"/>
            <a:ext cx="242574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GCC Staging &amp; Testing</a:t>
            </a:r>
            <a:endParaRPr/>
          </a:p>
        </p:txBody>
      </p:sp>
      <p:sp>
        <p:nvSpPr>
          <p:cNvPr id="340" name="Google Shape;340;p22"/>
          <p:cNvSpPr txBox="1"/>
          <p:nvPr/>
        </p:nvSpPr>
        <p:spPr>
          <a:xfrm>
            <a:off x="5054500" y="4298602"/>
            <a:ext cx="242574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Git Upstream Branches</a:t>
            </a:r>
            <a:endParaRPr/>
          </a:p>
        </p:txBody>
      </p:sp>
      <p:sp>
        <p:nvSpPr>
          <p:cNvPr id="341" name="Google Shape;341;p22"/>
          <p:cNvSpPr txBox="1"/>
          <p:nvPr/>
        </p:nvSpPr>
        <p:spPr>
          <a:xfrm>
            <a:off x="5054500" y="4603402"/>
            <a:ext cx="242574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Hugging Face Spaces</a:t>
            </a:r>
            <a:endParaRPr/>
          </a:p>
        </p:txBody>
      </p:sp>
      <p:pic>
        <p:nvPicPr>
          <p:cNvPr descr="image.png" id="342" name="Google Shape;342;p2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485137" y="3031777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22"/>
          <p:cNvSpPr txBox="1"/>
          <p:nvPr/>
        </p:nvSpPr>
        <p:spPr>
          <a:xfrm>
            <a:off x="8699450" y="3993802"/>
            <a:ext cx="2425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 (Low-Level Core Logic)</a:t>
            </a:r>
            <a:endParaRPr/>
          </a:p>
        </p:txBody>
      </p:sp>
      <p:sp>
        <p:nvSpPr>
          <p:cNvPr id="344" name="Google Shape;344;p22"/>
          <p:cNvSpPr txBox="1"/>
          <p:nvPr/>
        </p:nvSpPr>
        <p:spPr>
          <a:xfrm>
            <a:off x="8699450" y="4298602"/>
            <a:ext cx="2425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ES6+ Javascript (Dynamic UI)</a:t>
            </a:r>
            <a:endParaRPr/>
          </a:p>
        </p:txBody>
      </p:sp>
      <p:sp>
        <p:nvSpPr>
          <p:cNvPr id="345" name="Google Shape;345;p22"/>
          <p:cNvSpPr txBox="1"/>
          <p:nvPr/>
        </p:nvSpPr>
        <p:spPr>
          <a:xfrm>
            <a:off x="8699450" y="4603402"/>
            <a:ext cx="2425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CSS3 Flex &amp; Grid Engines</a:t>
            </a:r>
            <a:endParaRPr/>
          </a:p>
        </p:txBody>
      </p:sp>
      <p:pic>
        <p:nvPicPr>
          <p:cNvPr descr="image.png" id="346" name="Google Shape;346;p2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066800" y="4017615"/>
            <a:ext cx="12382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7" name="Google Shape;347;p2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066800" y="4322415"/>
            <a:ext cx="12382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8" name="Google Shape;348;p2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066800" y="4627215"/>
            <a:ext cx="12382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9" name="Google Shape;349;p2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711600" y="4017615"/>
            <a:ext cx="12382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0" name="Google Shape;350;p2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711600" y="4322415"/>
            <a:ext cx="12382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1" name="Google Shape;351;p2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711600" y="4627215"/>
            <a:ext cx="12382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2" name="Google Shape;352;p2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356550" y="4017615"/>
            <a:ext cx="12382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3" name="Google Shape;353;p2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356550" y="4322415"/>
            <a:ext cx="12382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4" name="Google Shape;354;p2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356550" y="4627215"/>
            <a:ext cx="123825" cy="1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9" name="Google Shape;35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0" name="Google Shape;36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5934075"/>
            <a:ext cx="1064895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23"/>
          <p:cNvSpPr txBox="1"/>
          <p:nvPr/>
        </p:nvSpPr>
        <p:spPr>
          <a:xfrm>
            <a:off x="505301" y="1552575"/>
            <a:ext cx="11181397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Thank You</a:t>
            </a:r>
            <a:endParaRPr/>
          </a:p>
        </p:txBody>
      </p:sp>
      <p:sp>
        <p:nvSpPr>
          <p:cNvPr id="362" name="Google Shape;362;p23"/>
          <p:cNvSpPr txBox="1"/>
          <p:nvPr/>
        </p:nvSpPr>
        <p:spPr>
          <a:xfrm>
            <a:off x="771525" y="2609850"/>
            <a:ext cx="10648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Your Questions &amp; Feedback are Welcome</a:t>
            </a:r>
            <a:endParaRPr/>
          </a:p>
        </p:txBody>
      </p:sp>
      <p:sp>
        <p:nvSpPr>
          <p:cNvPr id="363" name="Google Shape;363;p23"/>
          <p:cNvSpPr txBox="1"/>
          <p:nvPr/>
        </p:nvSpPr>
        <p:spPr>
          <a:xfrm>
            <a:off x="771525" y="6134100"/>
            <a:ext cx="2364134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REVA UNIVERSITY • CSE DEPARTMENT</a:t>
            </a:r>
            <a:endParaRPr/>
          </a:p>
        </p:txBody>
      </p:sp>
      <p:sp>
        <p:nvSpPr>
          <p:cNvPr id="364" name="Google Shape;364;p23"/>
          <p:cNvSpPr txBox="1"/>
          <p:nvPr/>
        </p:nvSpPr>
        <p:spPr>
          <a:xfrm>
            <a:off x="9997380" y="6134100"/>
            <a:ext cx="1423094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END OF PRESENTATION</a:t>
            </a:r>
            <a:endParaRPr/>
          </a:p>
        </p:txBody>
      </p:sp>
      <p:pic>
        <p:nvPicPr>
          <p:cNvPr descr="image.png" id="365" name="Google Shape;36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24125" y="3471862"/>
            <a:ext cx="2571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6" name="Google Shape;36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29375" y="3471862"/>
            <a:ext cx="2571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7" name="Google Shape;36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24125" y="4281487"/>
            <a:ext cx="2571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8" name="Google Shape;368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29375" y="4281487"/>
            <a:ext cx="2571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23"/>
          <p:cNvSpPr txBox="1"/>
          <p:nvPr/>
        </p:nvSpPr>
        <p:spPr>
          <a:xfrm>
            <a:off x="2933700" y="3457575"/>
            <a:ext cx="157772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Akash babji</a:t>
            </a:r>
            <a:endParaRPr/>
          </a:p>
        </p:txBody>
      </p:sp>
      <p:sp>
        <p:nvSpPr>
          <p:cNvPr id="370" name="Google Shape;370;p23"/>
          <p:cNvSpPr txBox="1"/>
          <p:nvPr/>
        </p:nvSpPr>
        <p:spPr>
          <a:xfrm>
            <a:off x="2933700" y="3619500"/>
            <a:ext cx="1577726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github.com/akash01-code</a:t>
            </a:r>
            <a:endParaRPr/>
          </a:p>
        </p:txBody>
      </p:sp>
      <p:sp>
        <p:nvSpPr>
          <p:cNvPr id="371" name="Google Shape;371;p23"/>
          <p:cNvSpPr txBox="1"/>
          <p:nvPr/>
        </p:nvSpPr>
        <p:spPr>
          <a:xfrm>
            <a:off x="6838950" y="3457575"/>
            <a:ext cx="1303287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Aryush Sheelavant</a:t>
            </a:r>
            <a:endParaRPr/>
          </a:p>
        </p:txBody>
      </p:sp>
      <p:sp>
        <p:nvSpPr>
          <p:cNvPr id="372" name="Google Shape;372;p23"/>
          <p:cNvSpPr txBox="1"/>
          <p:nvPr/>
        </p:nvSpPr>
        <p:spPr>
          <a:xfrm>
            <a:off x="6838950" y="3619500"/>
            <a:ext cx="130328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github.com/Django-3</a:t>
            </a:r>
            <a:endParaRPr/>
          </a:p>
        </p:txBody>
      </p:sp>
      <p:sp>
        <p:nvSpPr>
          <p:cNvPr id="373" name="Google Shape;373;p23"/>
          <p:cNvSpPr txBox="1"/>
          <p:nvPr/>
        </p:nvSpPr>
        <p:spPr>
          <a:xfrm>
            <a:off x="2933700" y="4267200"/>
            <a:ext cx="1509117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Kavya bist</a:t>
            </a:r>
            <a:endParaRPr/>
          </a:p>
        </p:txBody>
      </p:sp>
      <p:sp>
        <p:nvSpPr>
          <p:cNvPr id="374" name="Google Shape;374;p23"/>
          <p:cNvSpPr txBox="1"/>
          <p:nvPr/>
        </p:nvSpPr>
        <p:spPr>
          <a:xfrm>
            <a:off x="2933700" y="4429125"/>
            <a:ext cx="1509117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github.com/kavyabist27</a:t>
            </a:r>
            <a:endParaRPr/>
          </a:p>
        </p:txBody>
      </p:sp>
      <p:sp>
        <p:nvSpPr>
          <p:cNvPr id="375" name="Google Shape;375;p23"/>
          <p:cNvSpPr txBox="1"/>
          <p:nvPr/>
        </p:nvSpPr>
        <p:spPr>
          <a:xfrm>
            <a:off x="6838950" y="4267200"/>
            <a:ext cx="157772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Anjali Nair PM</a:t>
            </a:r>
            <a:endParaRPr/>
          </a:p>
        </p:txBody>
      </p:sp>
      <p:sp>
        <p:nvSpPr>
          <p:cNvPr id="376" name="Google Shape;376;p23"/>
          <p:cNvSpPr txBox="1"/>
          <p:nvPr/>
        </p:nvSpPr>
        <p:spPr>
          <a:xfrm>
            <a:off x="6838950" y="4429125"/>
            <a:ext cx="1577726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github.com/pmanjalinair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